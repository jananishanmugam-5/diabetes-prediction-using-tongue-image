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notesMasterIdLst>
    <p:notesMasterId r:id="rId13"/>
  </p:notesMasterIdLst>
  <p:sldIdLst>
    <p:sldId id="262" r:id="rId2"/>
    <p:sldId id="264" r:id="rId3"/>
    <p:sldId id="257" r:id="rId4"/>
    <p:sldId id="261" r:id="rId5"/>
    <p:sldId id="258" r:id="rId6"/>
    <p:sldId id="267" r:id="rId7"/>
    <p:sldId id="268" r:id="rId8"/>
    <p:sldId id="265" r:id="rId9"/>
    <p:sldId id="266" r:id="rId10"/>
    <p:sldId id="259" r:id="rId11"/>
    <p:sldId id="263"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401691725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13301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630121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36180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013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01956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11855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79511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75730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22594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66046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65928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48390549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scholar.google.com/scholar?hl=en&amp;as_sdt=0,5&amp;q=diabetes+prediction+using+tongue#d=gs_qabs&amp;t=1734626834963&amp;u=%23p%3D8CAEyPXMQLgJ"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4BBB7-FB29-E5DD-3DE5-ADDE2195580F}"/>
              </a:ext>
            </a:extLst>
          </p:cNvPr>
          <p:cNvSpPr>
            <a:spLocks noGrp="1"/>
          </p:cNvSpPr>
          <p:nvPr>
            <p:ph type="title"/>
          </p:nvPr>
        </p:nvSpPr>
        <p:spPr>
          <a:xfrm>
            <a:off x="11324" y="1649620"/>
            <a:ext cx="11233248" cy="1008112"/>
          </a:xfrm>
        </p:spPr>
        <p:txBody>
          <a:bodyPr>
            <a:normAutofit fontScale="90000"/>
          </a:bodyPr>
          <a:lstStyle/>
          <a:p>
            <a:r>
              <a:rPr lang="en-IN" sz="2400" b="1" dirty="0">
                <a:solidFill>
                  <a:schemeClr val="dk1"/>
                </a:solidFill>
                <a:latin typeface="Times New Roman" panose="02020603050405020304" pitchFamily="18" charset="0"/>
                <a:cs typeface="Times New Roman" panose="02020603050405020304" pitchFamily="18" charset="0"/>
              </a:rPr>
              <a:t> </a:t>
            </a:r>
            <a:br>
              <a:rPr lang="en-IN" sz="2400" b="1" dirty="0">
                <a:solidFill>
                  <a:schemeClr val="dk1"/>
                </a:solidFill>
                <a:latin typeface="Times New Roman" panose="02020603050405020304" pitchFamily="18" charset="0"/>
                <a:cs typeface="Times New Roman" panose="02020603050405020304" pitchFamily="18" charset="0"/>
              </a:rPr>
            </a:br>
            <a:br>
              <a:rPr lang="en-IN" sz="2000" b="1" dirty="0">
                <a:solidFill>
                  <a:schemeClr val="dk1"/>
                </a:solidFill>
              </a:rPr>
            </a:br>
            <a:r>
              <a:rPr lang="en-IN" sz="4000" b="1" dirty="0">
                <a:solidFill>
                  <a:schemeClr val="dk1"/>
                </a:solidFill>
                <a:latin typeface="Times New Roman" panose="02020603050405020304" pitchFamily="18" charset="0"/>
                <a:cs typeface="Times New Roman" panose="02020603050405020304" pitchFamily="18" charset="0"/>
              </a:rPr>
              <a:t>   </a:t>
            </a:r>
            <a:r>
              <a:rPr lang="en-IN" sz="2700" b="1" dirty="0">
                <a:solidFill>
                  <a:schemeClr val="dk1"/>
                </a:solidFill>
                <a:latin typeface="Times New Roman" panose="02020603050405020304" pitchFamily="18" charset="0"/>
                <a:cs typeface="Times New Roman" panose="02020603050405020304" pitchFamily="18" charset="0"/>
              </a:rPr>
              <a:t>DIABETES PREDICTION FROM TONGUE IMAGE</a:t>
            </a:r>
            <a:endParaRPr lang="en-IN" sz="20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09CD172-BE78-B4C0-3216-9C3160BE8B17}"/>
              </a:ext>
            </a:extLst>
          </p:cNvPr>
          <p:cNvSpPr txBox="1"/>
          <p:nvPr/>
        </p:nvSpPr>
        <p:spPr>
          <a:xfrm>
            <a:off x="8400256" y="4293096"/>
            <a:ext cx="3096344" cy="1261884"/>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PRESENTED BY</a:t>
            </a:r>
          </a:p>
          <a:p>
            <a:endParaRPr lang="en-IN" sz="20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               DHARSHINI.K</a:t>
            </a:r>
          </a:p>
          <a:p>
            <a:r>
              <a:rPr lang="en-IN" sz="1800" b="1" dirty="0">
                <a:latin typeface="Times New Roman" panose="02020603050405020304" pitchFamily="18" charset="0"/>
                <a:cs typeface="Times New Roman" panose="02020603050405020304" pitchFamily="18" charset="0"/>
              </a:rPr>
              <a:t>               YAMUNA.A  </a:t>
            </a:r>
          </a:p>
        </p:txBody>
      </p:sp>
      <p:sp>
        <p:nvSpPr>
          <p:cNvPr id="3" name="TextBox 2">
            <a:extLst>
              <a:ext uri="{FF2B5EF4-FFF2-40B4-BE49-F238E27FC236}">
                <a16:creationId xmlns:a16="http://schemas.microsoft.com/office/drawing/2014/main" id="{1B936CBD-62EF-1287-43DB-1FBF68BA1467}"/>
              </a:ext>
            </a:extLst>
          </p:cNvPr>
          <p:cNvSpPr txBox="1"/>
          <p:nvPr/>
        </p:nvSpPr>
        <p:spPr>
          <a:xfrm>
            <a:off x="3503712" y="2794950"/>
            <a:ext cx="540060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Domain: Machine learning</a:t>
            </a:r>
          </a:p>
        </p:txBody>
      </p:sp>
      <p:sp>
        <p:nvSpPr>
          <p:cNvPr id="4" name="TextBox 3">
            <a:extLst>
              <a:ext uri="{FF2B5EF4-FFF2-40B4-BE49-F238E27FC236}">
                <a16:creationId xmlns:a16="http://schemas.microsoft.com/office/drawing/2014/main" id="{07C9674B-5F4A-BB81-1B5D-1F765EE81ECF}"/>
              </a:ext>
            </a:extLst>
          </p:cNvPr>
          <p:cNvSpPr txBox="1"/>
          <p:nvPr/>
        </p:nvSpPr>
        <p:spPr>
          <a:xfrm>
            <a:off x="263352" y="225429"/>
            <a:ext cx="11665296" cy="461665"/>
          </a:xfrm>
          <a:prstGeom prst="rect">
            <a:avLst/>
          </a:prstGeom>
          <a:noFill/>
        </p:spPr>
        <p:txBody>
          <a:bodyPr wrap="square" rtlCol="0">
            <a:spAutoFit/>
          </a:bodyPr>
          <a:lstStyle/>
          <a:p>
            <a:pPr algn="ctr"/>
            <a:r>
              <a:rPr lang="en-IN" sz="2400" b="1" dirty="0" err="1">
                <a:latin typeface="Times New Roman" panose="02020603050405020304" pitchFamily="18" charset="0"/>
                <a:cs typeface="Times New Roman" panose="02020603050405020304" pitchFamily="18" charset="0"/>
              </a:rPr>
              <a:t>Avinashilingam</a:t>
            </a:r>
            <a:r>
              <a:rPr lang="en-IN" sz="2400" b="1" dirty="0">
                <a:latin typeface="Times New Roman" panose="02020603050405020304" pitchFamily="18" charset="0"/>
                <a:cs typeface="Times New Roman" panose="02020603050405020304" pitchFamily="18" charset="0"/>
              </a:rPr>
              <a:t> institute for home science and Higher Education for Women</a:t>
            </a:r>
          </a:p>
        </p:txBody>
      </p:sp>
      <p:sp>
        <p:nvSpPr>
          <p:cNvPr id="5" name="TextBox 4">
            <a:extLst>
              <a:ext uri="{FF2B5EF4-FFF2-40B4-BE49-F238E27FC236}">
                <a16:creationId xmlns:a16="http://schemas.microsoft.com/office/drawing/2014/main" id="{285F7264-454C-9FB8-F99D-60B7189EB9D4}"/>
              </a:ext>
            </a:extLst>
          </p:cNvPr>
          <p:cNvSpPr txBox="1"/>
          <p:nvPr/>
        </p:nvSpPr>
        <p:spPr>
          <a:xfrm>
            <a:off x="3503712" y="908719"/>
            <a:ext cx="741682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School Of Engineering</a:t>
            </a:r>
          </a:p>
        </p:txBody>
      </p:sp>
      <p:sp>
        <p:nvSpPr>
          <p:cNvPr id="7" name="TextBox 6">
            <a:extLst>
              <a:ext uri="{FF2B5EF4-FFF2-40B4-BE49-F238E27FC236}">
                <a16:creationId xmlns:a16="http://schemas.microsoft.com/office/drawing/2014/main" id="{1BDD3512-3F79-FE0F-CF5A-A06DD333273C}"/>
              </a:ext>
            </a:extLst>
          </p:cNvPr>
          <p:cNvSpPr txBox="1"/>
          <p:nvPr/>
        </p:nvSpPr>
        <p:spPr>
          <a:xfrm>
            <a:off x="2495600" y="1451350"/>
            <a:ext cx="5904656"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Department Of Computer Science and Engineering</a:t>
            </a:r>
          </a:p>
        </p:txBody>
      </p:sp>
    </p:spTree>
    <p:extLst>
      <p:ext uri="{BB962C8B-B14F-4D97-AF65-F5344CB8AC3E}">
        <p14:creationId xmlns:p14="http://schemas.microsoft.com/office/powerpoint/2010/main" val="1086926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0127B8-397C-327C-EB9B-7045C92AA62A}"/>
              </a:ext>
            </a:extLst>
          </p:cNvPr>
          <p:cNvSpPr txBox="1"/>
          <p:nvPr/>
        </p:nvSpPr>
        <p:spPr>
          <a:xfrm>
            <a:off x="158014" y="197910"/>
            <a:ext cx="255361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ABSTRACT</a:t>
            </a:r>
          </a:p>
        </p:txBody>
      </p:sp>
      <p:sp>
        <p:nvSpPr>
          <p:cNvPr id="17" name="Rectangle 6">
            <a:extLst>
              <a:ext uri="{FF2B5EF4-FFF2-40B4-BE49-F238E27FC236}">
                <a16:creationId xmlns:a16="http://schemas.microsoft.com/office/drawing/2014/main" id="{04F4F40D-AAD5-881F-1B23-4CB6CE70655A}"/>
              </a:ext>
            </a:extLst>
          </p:cNvPr>
          <p:cNvSpPr>
            <a:spLocks noChangeArrowheads="1"/>
          </p:cNvSpPr>
          <p:nvPr/>
        </p:nvSpPr>
        <p:spPr bwMode="auto">
          <a:xfrm>
            <a:off x="158014" y="1101867"/>
            <a:ext cx="1162661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None/>
              <a:tabLst/>
            </a:pPr>
            <a:r>
              <a:rPr lang="en-US" sz="2400" dirty="0">
                <a:latin typeface="Times New Roman" panose="02020603050405020304" pitchFamily="18" charset="0"/>
                <a:cs typeface="Times New Roman" panose="02020603050405020304" pitchFamily="18" charset="0"/>
              </a:rPr>
              <a:t>Diabetes is often diagnosed late due to reliance on invasive blood tests and symptomatic observations. Early detection is crucial, but current methods can be time-consuming, expensive, and inaccessible. This project proposes a non-invasive system for early diabetes detection using tongue image analysis. It uses OpenCV for preprocessing, including color correction and ROI extraction, followed by a Convolutional Neural Network (CNN) for feature extraction and classification. Trained on a labeled dataset, the system offers an accurate, cost-effective, and user-friendly method for diagnosing diabetes, enabling timely intervention and improved health outcomes.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6217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19"/>
          <p:cNvSpPr txBox="1">
            <a:spLocks noGrp="1"/>
          </p:cNvSpPr>
          <p:nvPr>
            <p:ph idx="1"/>
          </p:nvPr>
        </p:nvSpPr>
        <p:spPr>
          <a:xfrm>
            <a:off x="191344" y="404664"/>
            <a:ext cx="2664296" cy="57606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ct val="83333"/>
              <a:buNone/>
            </a:pPr>
            <a:r>
              <a:rPr lang="en-IN" sz="2800" b="1" dirty="0">
                <a:solidFill>
                  <a:schemeClr val="dk1"/>
                </a:solidFill>
                <a:latin typeface="Times New Roman" panose="02020603050405020304" pitchFamily="18" charset="0"/>
                <a:cs typeface="Times New Roman" panose="02020603050405020304" pitchFamily="18" charset="0"/>
              </a:rPr>
              <a:t>OBJECTIVES</a:t>
            </a:r>
          </a:p>
          <a:p>
            <a:pPr marL="0" lvl="0" indent="0" algn="l" rtl="0">
              <a:spcBef>
                <a:spcPts val="0"/>
              </a:spcBef>
              <a:spcAft>
                <a:spcPts val="0"/>
              </a:spcAft>
              <a:buSzPct val="83333"/>
              <a:buNone/>
            </a:pPr>
            <a:endParaRPr lang="en-IN" sz="4400" dirty="0">
              <a:solidFill>
                <a:schemeClr val="dk1"/>
              </a:solidFill>
            </a:endParaRPr>
          </a:p>
          <a:p>
            <a:pPr marL="0" indent="0">
              <a:spcBef>
                <a:spcPts val="0"/>
              </a:spcBef>
              <a:buSzPct val="83333"/>
              <a:buNone/>
            </a:pPr>
            <a:endParaRPr sz="2000" dirty="0">
              <a:solidFill>
                <a:schemeClr val="dk1"/>
              </a:solidFill>
            </a:endParaRPr>
          </a:p>
          <a:p>
            <a:pPr marL="0" lvl="0" indent="0" algn="l" rtl="0">
              <a:spcBef>
                <a:spcPts val="1000"/>
              </a:spcBef>
              <a:spcAft>
                <a:spcPts val="0"/>
              </a:spcAft>
              <a:buSzPct val="100000"/>
              <a:buNone/>
            </a:pPr>
            <a:endParaRPr sz="2000" b="1" dirty="0">
              <a:solidFill>
                <a:schemeClr val="dk1"/>
              </a:solidFill>
            </a:endParaRPr>
          </a:p>
          <a:p>
            <a:pPr marL="0" lvl="0" indent="0" algn="l" rtl="0">
              <a:spcBef>
                <a:spcPts val="1000"/>
              </a:spcBef>
              <a:spcAft>
                <a:spcPts val="0"/>
              </a:spcAft>
              <a:buSzPct val="100000"/>
              <a:buNone/>
            </a:pPr>
            <a:endParaRPr sz="2000" dirty="0">
              <a:solidFill>
                <a:schemeClr val="dk1"/>
              </a:solidFill>
            </a:endParaRPr>
          </a:p>
          <a:p>
            <a:pPr marL="342900" lvl="0" indent="-215900" algn="l" rtl="0">
              <a:spcBef>
                <a:spcPts val="1000"/>
              </a:spcBef>
              <a:spcAft>
                <a:spcPts val="0"/>
              </a:spcAft>
              <a:buSzPct val="100000"/>
              <a:buNone/>
            </a:pPr>
            <a:endParaRPr sz="2000" dirty="0">
              <a:solidFill>
                <a:schemeClr val="dk1"/>
              </a:solidFill>
            </a:endParaRPr>
          </a:p>
          <a:p>
            <a:pPr marL="342900" lvl="0" indent="-215900" algn="l" rtl="0">
              <a:spcBef>
                <a:spcPts val="1000"/>
              </a:spcBef>
              <a:spcAft>
                <a:spcPts val="0"/>
              </a:spcAft>
              <a:buSzPct val="100000"/>
              <a:buNone/>
            </a:pPr>
            <a:endParaRPr sz="2000" dirty="0">
              <a:solidFill>
                <a:schemeClr val="dk1"/>
              </a:solidFill>
            </a:endParaRPr>
          </a:p>
          <a:p>
            <a:pPr marL="0" lvl="0" indent="0" algn="l" rtl="0">
              <a:spcBef>
                <a:spcPts val="1000"/>
              </a:spcBef>
              <a:spcAft>
                <a:spcPts val="0"/>
              </a:spcAft>
              <a:buSzPct val="100000"/>
              <a:buNone/>
            </a:pPr>
            <a:endParaRPr sz="2000" dirty="0">
              <a:solidFill>
                <a:schemeClr val="dk1"/>
              </a:solidFill>
            </a:endParaRPr>
          </a:p>
        </p:txBody>
      </p:sp>
      <p:sp>
        <p:nvSpPr>
          <p:cNvPr id="2" name="Rectangle 1">
            <a:extLst>
              <a:ext uri="{FF2B5EF4-FFF2-40B4-BE49-F238E27FC236}">
                <a16:creationId xmlns:a16="http://schemas.microsoft.com/office/drawing/2014/main" id="{CB070540-26BC-8F35-A34C-D236B44D5D55}"/>
              </a:ext>
            </a:extLst>
          </p:cNvPr>
          <p:cNvSpPr>
            <a:spLocks noChangeArrowheads="1"/>
          </p:cNvSpPr>
          <p:nvPr/>
        </p:nvSpPr>
        <p:spPr bwMode="auto">
          <a:xfrm>
            <a:off x="263352" y="1283352"/>
            <a:ext cx="1108923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objective of this project is to create a non-invasive, cost-effective system for early diabetes detection using tongue image analysis. By leveraging OpenCV for preprocessing and CNNs for feature extraction and classification, the system will identify key visual markers indicative of diabetes. It aims to provide an accessible tool that can analyze tongue images, offering users an instant diagnosis along with confidence levels. The system will be scalable for use in various settings, ensuring broad accessibility and early intervention. Ultimately, it seeks to improve diabetes detection and outcomes through an innovative, AI-driven approach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19"/>
          <p:cNvSpPr txBox="1">
            <a:spLocks noGrp="1"/>
          </p:cNvSpPr>
          <p:nvPr>
            <p:ph idx="1"/>
          </p:nvPr>
        </p:nvSpPr>
        <p:spPr>
          <a:xfrm>
            <a:off x="415856" y="260648"/>
            <a:ext cx="11521280" cy="4176464"/>
          </a:xfrm>
          <a:prstGeom prst="rect">
            <a:avLst/>
          </a:prstGeom>
          <a:noFill/>
          <a:ln>
            <a:noFill/>
          </a:ln>
        </p:spPr>
        <p:txBody>
          <a:bodyPr spcFirstLastPara="1" wrap="square" lIns="91425" tIns="45700" rIns="91425" bIns="45700" anchor="t" anchorCtr="0">
            <a:normAutofit/>
          </a:bodyPr>
          <a:lstStyle/>
          <a:p>
            <a:pPr marL="0" lvl="0" indent="0" rtl="0">
              <a:spcBef>
                <a:spcPts val="0"/>
              </a:spcBef>
              <a:spcAft>
                <a:spcPts val="0"/>
              </a:spcAft>
              <a:buSzPct val="83333"/>
              <a:buNone/>
            </a:pPr>
            <a:endParaRPr lang="en-IN" b="1" dirty="0">
              <a:solidFill>
                <a:schemeClr val="dk1"/>
              </a:solidFill>
              <a:latin typeface="Times New Roman" panose="02020603050405020304" pitchFamily="18" charset="0"/>
              <a:cs typeface="Times New Roman" panose="02020603050405020304" pitchFamily="18" charset="0"/>
            </a:endParaRPr>
          </a:p>
          <a:p>
            <a:pPr marL="0" lvl="0" indent="0" rtl="0">
              <a:spcBef>
                <a:spcPts val="0"/>
              </a:spcBef>
              <a:spcAft>
                <a:spcPts val="0"/>
              </a:spcAft>
              <a:buSzPct val="83333"/>
              <a:buNone/>
            </a:pPr>
            <a:endParaRPr lang="en-IN" b="1" dirty="0">
              <a:solidFill>
                <a:schemeClr val="dk1"/>
              </a:solidFill>
              <a:latin typeface="Times New Roman" panose="02020603050405020304" pitchFamily="18" charset="0"/>
              <a:cs typeface="Times New Roman" panose="02020603050405020304" pitchFamily="18" charset="0"/>
            </a:endParaRPr>
          </a:p>
          <a:p>
            <a:pPr marL="0" lvl="0" indent="0" rtl="0">
              <a:spcBef>
                <a:spcPts val="0"/>
              </a:spcBef>
              <a:spcAft>
                <a:spcPts val="0"/>
              </a:spcAft>
              <a:buSzPct val="83333"/>
              <a:buNone/>
            </a:pPr>
            <a:endParaRPr lang="en-IN" sz="1200"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50000"/>
              </a:lnSpc>
              <a:spcBef>
                <a:spcPts val="1000"/>
              </a:spcBef>
              <a:spcAft>
                <a:spcPts val="0"/>
              </a:spcAft>
              <a:buSzPct val="100000"/>
              <a:buNone/>
            </a:pPr>
            <a:endParaRPr sz="2000" b="1"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000"/>
              </a:spcBef>
              <a:spcAft>
                <a:spcPts val="0"/>
              </a:spcAft>
              <a:buSzPct val="100000"/>
              <a:buNone/>
            </a:pPr>
            <a:endParaRPr sz="2000" dirty="0">
              <a:solidFill>
                <a:schemeClr val="dk1"/>
              </a:solidFill>
            </a:endParaRPr>
          </a:p>
          <a:p>
            <a:pPr marL="342900" lvl="0" indent="-215900" rtl="0">
              <a:spcBef>
                <a:spcPts val="1000"/>
              </a:spcBef>
              <a:spcAft>
                <a:spcPts val="0"/>
              </a:spcAft>
              <a:buSzPct val="100000"/>
              <a:buNone/>
            </a:pPr>
            <a:endParaRPr sz="2000" dirty="0">
              <a:solidFill>
                <a:schemeClr val="dk1"/>
              </a:solidFill>
            </a:endParaRPr>
          </a:p>
          <a:p>
            <a:pPr marL="342900" lvl="0" indent="-215900" algn="l" rtl="0">
              <a:spcBef>
                <a:spcPts val="1000"/>
              </a:spcBef>
              <a:spcAft>
                <a:spcPts val="0"/>
              </a:spcAft>
              <a:buSzPct val="100000"/>
              <a:buNone/>
            </a:pPr>
            <a:endParaRPr sz="2000" dirty="0">
              <a:solidFill>
                <a:schemeClr val="dk1"/>
              </a:solidFill>
            </a:endParaRPr>
          </a:p>
          <a:p>
            <a:pPr marL="0" lvl="0" indent="0" algn="l" rtl="0">
              <a:spcBef>
                <a:spcPts val="1000"/>
              </a:spcBef>
              <a:spcAft>
                <a:spcPts val="0"/>
              </a:spcAft>
              <a:buSzPct val="100000"/>
              <a:buNone/>
            </a:pPr>
            <a:endParaRPr sz="2000" dirty="0">
              <a:solidFill>
                <a:schemeClr val="dk1"/>
              </a:solidFill>
            </a:endParaRPr>
          </a:p>
        </p:txBody>
      </p:sp>
      <p:sp>
        <p:nvSpPr>
          <p:cNvPr id="2" name="TextBox 1">
            <a:extLst>
              <a:ext uri="{FF2B5EF4-FFF2-40B4-BE49-F238E27FC236}">
                <a16:creationId xmlns:a16="http://schemas.microsoft.com/office/drawing/2014/main" id="{8BE5E052-5F65-E0A9-92B5-33F34B2A098A}"/>
              </a:ext>
            </a:extLst>
          </p:cNvPr>
          <p:cNvSpPr txBox="1"/>
          <p:nvPr/>
        </p:nvSpPr>
        <p:spPr>
          <a:xfrm>
            <a:off x="407368" y="548680"/>
            <a:ext cx="504056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PROBLEM DEFINITION</a:t>
            </a:r>
          </a:p>
        </p:txBody>
      </p:sp>
      <p:sp>
        <p:nvSpPr>
          <p:cNvPr id="3" name="Rectangle 1">
            <a:extLst>
              <a:ext uri="{FF2B5EF4-FFF2-40B4-BE49-F238E27FC236}">
                <a16:creationId xmlns:a16="http://schemas.microsoft.com/office/drawing/2014/main" id="{AE03CA96-F5A7-D145-835E-12ABA372A134}"/>
              </a:ext>
            </a:extLst>
          </p:cNvPr>
          <p:cNvSpPr>
            <a:spLocks noChangeArrowheads="1"/>
          </p:cNvSpPr>
          <p:nvPr/>
        </p:nvSpPr>
        <p:spPr bwMode="auto">
          <a:xfrm rot="10800000" flipV="1">
            <a:off x="415856" y="1148600"/>
            <a:ext cx="11360288" cy="4796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Late Diagnosis of Diabetes: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Diabetes is often diagnosed at later stages due to reliance on invasive blood tests and symptomatic observations.</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Inaccessibility and High Costs: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Current diagnostic methods can be time-consuming, expensive, and inaccessible, particularly in underserved or remote areas.</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Non-Invasive Solutions: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medicine uses tongue analysis to detect underlying health conditions like diabetes, but modern systems have not leveraged this approach effectively.</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Methods Limitations: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Existing diabetes detection methods do not provide a simple, cost-effective, and accessible solution for early diagnosis.</a:t>
            </a: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Early, Non-Invasive Diagnosis: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There is a critical need for an early, non-invasive diagnostic tool that can detect diabetes in its early stages, enabling timely intervention.</a:t>
            </a: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Opportunity for AI Integration: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aims to use computer vision and AI techniques for a reliable, non-invasive, and accessible method of diabetes detection using tongue image analysis.</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8656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body" orient="vert" idx="1"/>
          </p:nvPr>
        </p:nvSpPr>
        <p:spPr>
          <a:xfrm rot="16200000">
            <a:off x="2121120" y="-1900568"/>
            <a:ext cx="8021767" cy="11881320"/>
          </a:xfrm>
          <a:prstGeom prst="rect">
            <a:avLst/>
          </a:prstGeom>
          <a:noFill/>
          <a:ln>
            <a:noFill/>
          </a:ln>
        </p:spPr>
        <p:txBody>
          <a:bodyPr spcFirstLastPara="1" wrap="square" lIns="91425" tIns="45700" rIns="91425" bIns="45700" anchor="t" anchorCtr="0">
            <a:noAutofit/>
          </a:bodyPr>
          <a:lstStyle/>
          <a:p>
            <a:pPr marL="0" lvl="0" indent="0" algn="l" rtl="0">
              <a:spcBef>
                <a:spcPts val="1000"/>
              </a:spcBef>
              <a:spcAft>
                <a:spcPts val="0"/>
              </a:spcAft>
              <a:buSzPts val="2400"/>
              <a:buNone/>
            </a:pPr>
            <a:r>
              <a:rPr lang="en-GB" sz="2800" b="1" dirty="0">
                <a:solidFill>
                  <a:schemeClr val="dk1"/>
                </a:solidFill>
                <a:latin typeface="Times New Roman" panose="02020603050405020304" pitchFamily="18" charset="0"/>
                <a:cs typeface="Times New Roman" panose="02020603050405020304" pitchFamily="18" charset="0"/>
              </a:rPr>
              <a:t>EXISTING SYSTEM</a:t>
            </a:r>
          </a:p>
          <a:p>
            <a:pPr marL="0" lvl="0" indent="0" algn="l" rtl="0">
              <a:spcBef>
                <a:spcPts val="1000"/>
              </a:spcBef>
              <a:spcAft>
                <a:spcPts val="0"/>
              </a:spcAft>
              <a:buSzPts val="2400"/>
              <a:buNone/>
            </a:pPr>
            <a:r>
              <a:rPr lang="en-US" sz="2800" b="1" dirty="0">
                <a:solidFill>
                  <a:schemeClr val="dk1"/>
                </a:solidFill>
              </a:rPr>
              <a:t> </a:t>
            </a:r>
            <a:r>
              <a:rPr lang="en-US" sz="2400" b="1" dirty="0">
                <a:solidFill>
                  <a:schemeClr val="dk1"/>
                </a:solidFill>
              </a:rPr>
              <a:t>Fasting blood sugar test </a:t>
            </a:r>
          </a:p>
          <a:p>
            <a:pPr marL="0" lvl="0" indent="0" algn="just" rtl="0">
              <a:spcBef>
                <a:spcPts val="1000"/>
              </a:spcBef>
              <a:spcAft>
                <a:spcPts val="0"/>
              </a:spcAft>
              <a:buSzPts val="2400"/>
              <a:buNone/>
            </a:pPr>
            <a:r>
              <a:rPr lang="en-US" sz="2400" dirty="0">
                <a:solidFill>
                  <a:schemeClr val="dk1"/>
                </a:solidFill>
              </a:rPr>
              <a:t>     </a:t>
            </a:r>
            <a:r>
              <a:rPr lang="en-US" sz="2200" dirty="0">
                <a:solidFill>
                  <a:schemeClr val="dk1"/>
                </a:solidFill>
                <a:latin typeface="Times New Roman" panose="02020603050405020304" pitchFamily="18" charset="0"/>
                <a:cs typeface="Times New Roman" panose="02020603050405020304" pitchFamily="18" charset="0"/>
              </a:rPr>
              <a:t>Measures your blood sugar after fasting overnight. A fasting blood sugar level of 126 mg/dL (7 mmol/L) or higher on two separate tests indicates diabetes. </a:t>
            </a:r>
            <a:endParaRPr lang="en-GB" sz="22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000"/>
              </a:spcBef>
              <a:spcAft>
                <a:spcPts val="0"/>
              </a:spcAft>
              <a:buSzPts val="2400"/>
              <a:buNone/>
            </a:pPr>
            <a:r>
              <a:rPr lang="en-GB" sz="2800" b="1" dirty="0">
                <a:solidFill>
                  <a:schemeClr val="dk1"/>
                </a:solidFill>
              </a:rPr>
              <a:t> </a:t>
            </a:r>
            <a:r>
              <a:rPr lang="en-GB" sz="2800" b="1" dirty="0">
                <a:solidFill>
                  <a:schemeClr val="dk1"/>
                </a:solidFill>
                <a:latin typeface="Times New Roman" panose="02020603050405020304" pitchFamily="18" charset="0"/>
                <a:cs typeface="Times New Roman" panose="02020603050405020304" pitchFamily="18" charset="0"/>
              </a:rPr>
              <a:t>PROPOSED SYSTEM</a:t>
            </a:r>
            <a:endParaRPr lang="en-GB" b="1"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000"/>
              </a:spcBef>
              <a:spcAft>
                <a:spcPts val="0"/>
              </a:spcAft>
              <a:buSzPts val="2400"/>
              <a:buNone/>
            </a:pPr>
            <a:r>
              <a:rPr lang="en-GB" sz="2400" b="1" dirty="0">
                <a:solidFill>
                  <a:schemeClr val="dk1"/>
                </a:solidFill>
              </a:rPr>
              <a:t>        </a:t>
            </a:r>
            <a:r>
              <a:rPr lang="en-US" sz="2200" dirty="0">
                <a:solidFill>
                  <a:schemeClr val="dk1"/>
                </a:solidFill>
                <a:latin typeface="Times New Roman" panose="02020603050405020304" pitchFamily="18" charset="0"/>
                <a:cs typeface="Times New Roman" panose="02020603050405020304" pitchFamily="18" charset="0"/>
              </a:rPr>
              <a:t>The CNN processes the tongue images to automatically learn and extract relevant features, eliminating the need for manual feature engineering. The proposed method uses a well-structured CNN architecture to analyze the global and local patterns in tongue texture and classify the presence of diabetes with high accuracy. </a:t>
            </a:r>
          </a:p>
          <a:p>
            <a:pPr marL="0" lvl="0" indent="0" algn="l" rtl="0">
              <a:spcBef>
                <a:spcPts val="1000"/>
              </a:spcBef>
              <a:spcAft>
                <a:spcPts val="0"/>
              </a:spcAft>
              <a:buSzPts val="2400"/>
              <a:buNone/>
            </a:pPr>
            <a:r>
              <a:rPr lang="en-US" sz="2200" dirty="0">
                <a:solidFill>
                  <a:schemeClr val="dk1"/>
                </a:solidFill>
                <a:latin typeface="Times New Roman" panose="02020603050405020304" pitchFamily="18" charset="0"/>
                <a:cs typeface="Times New Roman" panose="02020603050405020304" pitchFamily="18" charset="0"/>
              </a:rPr>
              <a:t>By evaluating the model's performance on a reference dataset, the system demonstrates the effectiveness of combining image analysis with deep learning for non-invasive diabetes detection. This method offers a practical and efficient solution for early diabetes diagnosis, emphasizing the role of artificial intelligence in modern healthcare. The proposed system is designed to improve the accuracy and accessibility of diabetes screening, making it a valuable tool for timely prevention and treatment.</a:t>
            </a:r>
            <a:endParaRPr lang="en-GB" sz="2200" dirty="0">
              <a:solidFill>
                <a:schemeClr val="dk1"/>
              </a:solidFill>
              <a:latin typeface="Times New Roman" panose="02020603050405020304" pitchFamily="18" charset="0"/>
              <a:cs typeface="Times New Roman" panose="02020603050405020304" pitchFamily="18" charset="0"/>
            </a:endParaRPr>
          </a:p>
          <a:p>
            <a:pPr marL="0" lvl="0" indent="0" algn="l" rtl="0">
              <a:spcBef>
                <a:spcPts val="1000"/>
              </a:spcBef>
              <a:spcAft>
                <a:spcPts val="0"/>
              </a:spcAft>
              <a:buSzPts val="2400"/>
              <a:buNone/>
            </a:pPr>
            <a:r>
              <a:rPr lang="en-GB" sz="2200" dirty="0">
                <a:solidFill>
                  <a:schemeClr val="dk1"/>
                </a:solidFill>
                <a:latin typeface="Times New Roman" panose="02020603050405020304" pitchFamily="18" charset="0"/>
                <a:cs typeface="Times New Roman" panose="02020603050405020304" pitchFamily="18" charset="0"/>
              </a:rPr>
              <a:t>               </a:t>
            </a:r>
          </a:p>
          <a:p>
            <a:pPr marL="0" lvl="0" indent="0" algn="l" rtl="0">
              <a:spcBef>
                <a:spcPts val="1000"/>
              </a:spcBef>
              <a:spcAft>
                <a:spcPts val="0"/>
              </a:spcAft>
              <a:buSzPts val="2400"/>
              <a:buNone/>
            </a:pPr>
            <a:endParaRPr lang="en-GB" sz="2400" b="1"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388C3-D02C-A9A5-3F6D-8D317DE2393D}"/>
              </a:ext>
            </a:extLst>
          </p:cNvPr>
          <p:cNvSpPr>
            <a:spLocks noGrp="1"/>
          </p:cNvSpPr>
          <p:nvPr>
            <p:ph type="title"/>
          </p:nvPr>
        </p:nvSpPr>
        <p:spPr>
          <a:xfrm>
            <a:off x="119336" y="264992"/>
            <a:ext cx="3816424" cy="462021"/>
          </a:xfrm>
        </p:spPr>
        <p:txBody>
          <a:bodyPr>
            <a:normAutofit fontScale="90000"/>
          </a:bodyPr>
          <a:lstStyle/>
          <a:p>
            <a:r>
              <a:rPr lang="en-IN" dirty="0"/>
              <a:t>HOW IT WORKS</a:t>
            </a:r>
          </a:p>
        </p:txBody>
      </p:sp>
      <p:sp>
        <p:nvSpPr>
          <p:cNvPr id="3" name="Vertical Text Placeholder 2">
            <a:extLst>
              <a:ext uri="{FF2B5EF4-FFF2-40B4-BE49-F238E27FC236}">
                <a16:creationId xmlns:a16="http://schemas.microsoft.com/office/drawing/2014/main" id="{BD700A4E-6FDF-C472-D247-CA26E647FCD5}"/>
              </a:ext>
            </a:extLst>
          </p:cNvPr>
          <p:cNvSpPr>
            <a:spLocks noGrp="1"/>
          </p:cNvSpPr>
          <p:nvPr>
            <p:ph type="body" orient="vert" idx="1"/>
          </p:nvPr>
        </p:nvSpPr>
        <p:spPr>
          <a:xfrm rot="16200000">
            <a:off x="3145846" y="-1973773"/>
            <a:ext cx="5756294" cy="11377266"/>
          </a:xfrm>
        </p:spPr>
        <p:txBody>
          <a:bodyPr>
            <a:normAutofit lnSpcReduction="10000"/>
          </a:bodyPr>
          <a:lstStyle/>
          <a:p>
            <a:pPr marL="0" indent="0">
              <a:buNone/>
            </a:pPr>
            <a:r>
              <a:rPr lang="en-IN" sz="1200" dirty="0"/>
              <a:t> </a:t>
            </a:r>
            <a:r>
              <a:rPr lang="en-IN" sz="2000" dirty="0">
                <a:latin typeface="Times New Roman" panose="02020603050405020304" pitchFamily="18" charset="0"/>
                <a:cs typeface="Times New Roman" panose="02020603050405020304" pitchFamily="18" charset="0"/>
              </a:rPr>
              <a:t>🔷 Workflow for Diabetic Analysis Using Tongue </a:t>
            </a:r>
            <a:r>
              <a:rPr lang="en-IN" sz="2000" dirty="0" err="1">
                <a:latin typeface="Times New Roman" panose="02020603050405020304" pitchFamily="18" charset="0"/>
                <a:cs typeface="Times New Roman" panose="02020603050405020304" pitchFamily="18" charset="0"/>
              </a:rPr>
              <a:t>Images.The</a:t>
            </a:r>
            <a:r>
              <a:rPr lang="en-IN" sz="2000" dirty="0">
                <a:latin typeface="Times New Roman" panose="02020603050405020304" pitchFamily="18" charset="0"/>
                <a:cs typeface="Times New Roman" panose="02020603050405020304" pitchFamily="18" charset="0"/>
              </a:rPr>
              <a:t> process is divided into four main steps: </a:t>
            </a:r>
          </a:p>
          <a:p>
            <a:pPr marL="0" indent="0">
              <a:buNone/>
            </a:pPr>
            <a:r>
              <a:rPr lang="en-IN" sz="2000" dirty="0"/>
              <a:t>1️⃣ </a:t>
            </a:r>
            <a:r>
              <a:rPr lang="en-IN" sz="2000" dirty="0">
                <a:latin typeface="Times New Roman" panose="02020603050405020304" pitchFamily="18" charset="0"/>
                <a:cs typeface="Times New Roman" panose="02020603050405020304" pitchFamily="18" charset="0"/>
              </a:rPr>
              <a:t>Image Preprocessing Using OpenCV</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Since raw tongue images may contain noise, shadows, and unwanted background, they need preprocessing before deep learning analysis. OpenCV is used for: </a:t>
            </a:r>
          </a:p>
          <a:p>
            <a:pPr marL="0" indent="0">
              <a:buNone/>
            </a:pPr>
            <a:r>
              <a:rPr lang="en-IN" sz="12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1.Noise Reduction  - Apply Gaussian Blur or Median Filtering to remove unwanted noise</a:t>
            </a:r>
          </a:p>
          <a:p>
            <a:pPr marL="0" indent="0">
              <a:buNone/>
            </a:pPr>
            <a:r>
              <a:rPr lang="en-IN" sz="2000" dirty="0">
                <a:latin typeface="Times New Roman" panose="02020603050405020304" pitchFamily="18" charset="0"/>
                <a:cs typeface="Times New Roman" panose="02020603050405020304" pitchFamily="18" charset="0"/>
              </a:rPr>
              <a:t>      2.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Normalization   - Adjust brightness/contrast using histogram equalization. </a:t>
            </a:r>
          </a:p>
          <a:p>
            <a:pPr marL="0" indent="0">
              <a:buNone/>
            </a:pPr>
            <a:r>
              <a:rPr lang="en-IN" sz="2000" dirty="0">
                <a:latin typeface="Times New Roman" panose="02020603050405020304" pitchFamily="18" charset="0"/>
                <a:cs typeface="Times New Roman" panose="02020603050405020304" pitchFamily="18" charset="0"/>
              </a:rPr>
              <a:t>    3. Tongue Segmentation  - Use Thresholding, Watershed Algorithm, or Deep Learning-based U-Net for separating the tongue from the background. </a:t>
            </a:r>
          </a:p>
          <a:p>
            <a:pPr marL="0" indent="0">
              <a:buNone/>
            </a:pPr>
            <a:r>
              <a:rPr lang="en-IN" sz="2000" dirty="0">
                <a:latin typeface="Times New Roman" panose="02020603050405020304" pitchFamily="18" charset="0"/>
                <a:cs typeface="Times New Roman" panose="02020603050405020304" pitchFamily="18" charset="0"/>
              </a:rPr>
              <a:t>    4. Feature Enhancement - Convert to  HSV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space for better tongue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analysis.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t>2️⃣ </a:t>
            </a:r>
            <a:r>
              <a:rPr lang="en-IN" sz="2000" dirty="0">
                <a:latin typeface="Times New Roman" panose="02020603050405020304" pitchFamily="18" charset="0"/>
                <a:cs typeface="Times New Roman" panose="02020603050405020304" pitchFamily="18" charset="0"/>
              </a:rPr>
              <a:t>Feature Extraction Using CNN</a:t>
            </a:r>
            <a:endParaRPr lang="en-IN" sz="1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CNN automatically detects tongue </a:t>
            </a:r>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texture, cracks, swelling, and coating.  - The architecture consists of  Convolutional Layers (feature extraction), Pooling Layers (</a:t>
            </a:r>
            <a:r>
              <a:rPr lang="en-IN" sz="2000" dirty="0" err="1">
                <a:latin typeface="Times New Roman" panose="02020603050405020304" pitchFamily="18" charset="0"/>
                <a:cs typeface="Times New Roman" panose="02020603050405020304" pitchFamily="18" charset="0"/>
              </a:rPr>
              <a:t>downsampling</a:t>
            </a:r>
            <a:r>
              <a:rPr lang="en-IN" sz="2000" dirty="0">
                <a:latin typeface="Times New Roman" panose="02020603050405020304" pitchFamily="18" charset="0"/>
                <a:cs typeface="Times New Roman" panose="02020603050405020304" pitchFamily="18" charset="0"/>
              </a:rPr>
              <a:t>), and Fully Connected Layers (classification). </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CNN detects:  - Redness (linked to inflammation).    - Purple shades (blood stagnation).    - Coating texture (linked to digestive health and diabetes).    - Cracks &amp; dryness (indicate dehydration or metabolic imbalance</a:t>
            </a:r>
            <a:r>
              <a:rPr lang="en-IN" sz="1200" dirty="0"/>
              <a:t>).  </a:t>
            </a:r>
          </a:p>
        </p:txBody>
      </p:sp>
    </p:spTree>
    <p:extLst>
      <p:ext uri="{BB962C8B-B14F-4D97-AF65-F5344CB8AC3E}">
        <p14:creationId xmlns:p14="http://schemas.microsoft.com/office/powerpoint/2010/main" val="151745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96495246-9412-2436-DC2D-D7F1CF531140}"/>
              </a:ext>
            </a:extLst>
          </p:cNvPr>
          <p:cNvSpPr>
            <a:spLocks noGrp="1"/>
          </p:cNvSpPr>
          <p:nvPr>
            <p:ph type="body" orient="vert" idx="1"/>
          </p:nvPr>
        </p:nvSpPr>
        <p:spPr>
          <a:xfrm rot="16200000">
            <a:off x="2365274" y="-1625250"/>
            <a:ext cx="6021290" cy="9937102"/>
          </a:xfrm>
        </p:spPr>
        <p:txBody>
          <a:bodyPr>
            <a:normAutofit/>
          </a:bodyPr>
          <a:lstStyle/>
          <a:p>
            <a:pPr marL="0" indent="0">
              <a:buNone/>
            </a:pPr>
            <a:r>
              <a:rPr lang="en-IN" sz="3200" dirty="0"/>
              <a:t>3️⃣ </a:t>
            </a:r>
            <a:r>
              <a:rPr lang="en-IN" sz="2200" dirty="0">
                <a:latin typeface="Times New Roman" panose="02020603050405020304" pitchFamily="18" charset="0"/>
                <a:cs typeface="Times New Roman" panose="02020603050405020304" pitchFamily="18" charset="0"/>
              </a:rPr>
              <a:t>ML / Deep Learning for Classification</a:t>
            </a:r>
          </a:p>
          <a:p>
            <a:pPr>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After extracting features, we classify the tongue image as Diabetic or Non-Diabetic using:  </a:t>
            </a:r>
          </a:p>
          <a:p>
            <a:r>
              <a:rPr lang="en-IN" sz="2200" dirty="0">
                <a:latin typeface="Times New Roman" panose="02020603050405020304" pitchFamily="18" charset="0"/>
                <a:cs typeface="Times New Roman" panose="02020603050405020304" pitchFamily="18" charset="0"/>
              </a:rPr>
              <a:t>Machine Learning (ML) Classifiers  - SVM (Support Vector Machine), Decision Trees, or Random Forests.  - If features are manually extracted from OpenCV (e.g., </a:t>
            </a:r>
            <a:r>
              <a:rPr lang="en-IN" sz="2200" dirty="0" err="1">
                <a:latin typeface="Times New Roman" panose="02020603050405020304" pitchFamily="18" charset="0"/>
                <a:cs typeface="Times New Roman" panose="02020603050405020304" pitchFamily="18" charset="0"/>
              </a:rPr>
              <a:t>color</a:t>
            </a:r>
            <a:r>
              <a:rPr lang="en-IN" sz="2200" dirty="0">
                <a:latin typeface="Times New Roman" panose="02020603050405020304" pitchFamily="18" charset="0"/>
                <a:cs typeface="Times New Roman" panose="02020603050405020304" pitchFamily="18" charset="0"/>
              </a:rPr>
              <a:t> histograms, texture), ML classifiers can be trained. </a:t>
            </a:r>
          </a:p>
          <a:p>
            <a:r>
              <a:rPr lang="en-IN" sz="2200" dirty="0">
                <a:latin typeface="Times New Roman" panose="02020603050405020304" pitchFamily="18" charset="0"/>
                <a:cs typeface="Times New Roman" panose="02020603050405020304" pitchFamily="18" charset="0"/>
              </a:rPr>
              <a:t>Deep Learning (CNN, LSTM, </a:t>
            </a:r>
            <a:r>
              <a:rPr lang="en-IN" sz="2200" dirty="0" err="1">
                <a:latin typeface="Times New Roman" panose="02020603050405020304" pitchFamily="18" charset="0"/>
                <a:cs typeface="Times New Roman" panose="02020603050405020304" pitchFamily="18" charset="0"/>
              </a:rPr>
              <a:t>ResNet</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MobileNet</a:t>
            </a:r>
            <a:r>
              <a:rPr lang="en-IN" sz="2200" dirty="0">
                <a:latin typeface="Times New Roman" panose="02020603050405020304" pitchFamily="18" charset="0"/>
                <a:cs typeface="Times New Roman" panose="02020603050405020304" pitchFamily="18" charset="0"/>
              </a:rPr>
              <a:t>) - CNNs classify images directly from pixel data.  - Transfer Learning(</a:t>
            </a:r>
            <a:r>
              <a:rPr lang="en-IN" sz="2200" dirty="0" err="1">
                <a:latin typeface="Times New Roman" panose="02020603050405020304" pitchFamily="18" charset="0"/>
                <a:cs typeface="Times New Roman" panose="02020603050405020304" pitchFamily="18" charset="0"/>
              </a:rPr>
              <a:t>ResNet</a:t>
            </a:r>
            <a:r>
              <a:rPr lang="en-IN" sz="2200" dirty="0">
                <a:latin typeface="Times New Roman" panose="02020603050405020304" pitchFamily="18" charset="0"/>
                <a:cs typeface="Times New Roman" panose="02020603050405020304" pitchFamily="18" charset="0"/>
              </a:rPr>
              <a:t>, VGG16, </a:t>
            </a:r>
            <a:r>
              <a:rPr lang="en-IN" sz="2200" dirty="0" err="1">
                <a:latin typeface="Times New Roman" panose="02020603050405020304" pitchFamily="18" charset="0"/>
                <a:cs typeface="Times New Roman" panose="02020603050405020304" pitchFamily="18" charset="0"/>
              </a:rPr>
              <a:t>MobileNet</a:t>
            </a:r>
            <a:r>
              <a:rPr lang="en-IN" sz="2200" dirty="0">
                <a:latin typeface="Times New Roman" panose="02020603050405020304" pitchFamily="18" charset="0"/>
                <a:cs typeface="Times New Roman" panose="02020603050405020304" pitchFamily="18" charset="0"/>
              </a:rPr>
              <a:t>) can be used for higher accuracy. </a:t>
            </a:r>
          </a:p>
          <a:p>
            <a:pPr marL="0" indent="0">
              <a:buNone/>
            </a:pPr>
            <a:r>
              <a:rPr lang="en-IN" sz="2200" dirty="0">
                <a:latin typeface="Times New Roman" panose="02020603050405020304" pitchFamily="18" charset="0"/>
                <a:cs typeface="Times New Roman" panose="02020603050405020304" pitchFamily="18" charset="0"/>
              </a:rPr>
              <a:t>4️⃣ Feature Selection Using Optimization Algorithms</a:t>
            </a:r>
          </a:p>
          <a:p>
            <a:r>
              <a:rPr lang="en-IN" sz="2200" dirty="0">
                <a:latin typeface="Times New Roman" panose="02020603050405020304" pitchFamily="18" charset="0"/>
                <a:cs typeface="Times New Roman" panose="02020603050405020304" pitchFamily="18" charset="0"/>
              </a:rPr>
              <a:t> If feature selection is needed to reduce redundant data, optimization techniques like FODPSO (Fractional-Order Darwinian Particle Swarm Optimization) or Genetic Algorithm (GA) are applied.  - These methods improve classification accuracy by selecting the most relevant features.</a:t>
            </a:r>
          </a:p>
          <a:p>
            <a:endParaRPr lang="en-IN" dirty="0"/>
          </a:p>
        </p:txBody>
      </p:sp>
    </p:spTree>
    <p:extLst>
      <p:ext uri="{BB962C8B-B14F-4D97-AF65-F5344CB8AC3E}">
        <p14:creationId xmlns:p14="http://schemas.microsoft.com/office/powerpoint/2010/main" val="2146214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CFF1A5-06C4-1252-B226-7B6C41314402}"/>
              </a:ext>
            </a:extLst>
          </p:cNvPr>
          <p:cNvPicPr>
            <a:picLocks noChangeAspect="1"/>
          </p:cNvPicPr>
          <p:nvPr/>
        </p:nvPicPr>
        <p:blipFill>
          <a:blip r:embed="rId2"/>
          <a:stretch>
            <a:fillRect/>
          </a:stretch>
        </p:blipFill>
        <p:spPr>
          <a:xfrm>
            <a:off x="695400" y="980728"/>
            <a:ext cx="4346416" cy="5655456"/>
          </a:xfrm>
          <a:prstGeom prst="rect">
            <a:avLst/>
          </a:prstGeom>
        </p:spPr>
      </p:pic>
      <p:pic>
        <p:nvPicPr>
          <p:cNvPr id="4098" name="Picture 2" descr="Output image">
            <a:extLst>
              <a:ext uri="{FF2B5EF4-FFF2-40B4-BE49-F238E27FC236}">
                <a16:creationId xmlns:a16="http://schemas.microsoft.com/office/drawing/2014/main" id="{41610EB6-3BE1-E5A8-4058-72565A354A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5960" y="587647"/>
            <a:ext cx="5904656" cy="627035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CD4BADE-B1C4-B391-B2A9-E61FFDE70E07}"/>
              </a:ext>
            </a:extLst>
          </p:cNvPr>
          <p:cNvSpPr txBox="1"/>
          <p:nvPr/>
        </p:nvSpPr>
        <p:spPr>
          <a:xfrm>
            <a:off x="191344" y="221815"/>
            <a:ext cx="288032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FLOW CHART</a:t>
            </a:r>
          </a:p>
        </p:txBody>
      </p:sp>
    </p:spTree>
    <p:extLst>
      <p:ext uri="{BB962C8B-B14F-4D97-AF65-F5344CB8AC3E}">
        <p14:creationId xmlns:p14="http://schemas.microsoft.com/office/powerpoint/2010/main" val="1926402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A62C6C-D38C-B454-F7E8-63C3D952C9D6}"/>
              </a:ext>
            </a:extLst>
          </p:cNvPr>
          <p:cNvSpPr txBox="1"/>
          <p:nvPr/>
        </p:nvSpPr>
        <p:spPr>
          <a:xfrm>
            <a:off x="263352" y="476671"/>
            <a:ext cx="2880320"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FBC670F4-5DE4-6238-5209-A395925EAACC}"/>
              </a:ext>
            </a:extLst>
          </p:cNvPr>
          <p:cNvSpPr>
            <a:spLocks noChangeArrowheads="1"/>
          </p:cNvSpPr>
          <p:nvPr/>
        </p:nvSpPr>
        <p:spPr bwMode="auto">
          <a:xfrm rot="10800000" flipV="1">
            <a:off x="119335" y="1306801"/>
            <a:ext cx="12025335"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for diabetes detection using tongue image analysis presents a non-invasive,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cost-effective, and accessible alternative to traditional diagnostic methods.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By leveraging OpenCV for image preprocessing and CNN for feature extraction and classification,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can identify diabetes-related visual indicators with high accuracy. </a:t>
            </a: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approach eliminates the need for invasive blood tests and offers a rapid screening tool, especially beneficial for early detection and monitoring.</a:t>
            </a:r>
            <a:endParaRPr lang="en-US" altLang="en-US" sz="5400"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further optimization, a larger dataset, and integration with mobile applications, this AI-driven system has the potential to revolutionize diabetes diagnosis, making healthcare more efficient and widely available. </a:t>
            </a: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work may involve improving model accuracy, expanding the dataset to include diverse demographics, and integrating real-time feedback for enhanced usability</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79505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body" orient="vert" idx="1"/>
          </p:nvPr>
        </p:nvSpPr>
        <p:spPr>
          <a:xfrm rot="16200000">
            <a:off x="3433413" y="-2349377"/>
            <a:ext cx="5344619" cy="11396708"/>
          </a:xfrm>
          <a:prstGeom prst="rect">
            <a:avLst/>
          </a:prstGeom>
          <a:noFill/>
          <a:ln>
            <a:noFill/>
          </a:ln>
        </p:spPr>
        <p:txBody>
          <a:bodyPr spcFirstLastPara="1" wrap="square" lIns="91425" tIns="45700" rIns="91425" bIns="45700" anchor="t" anchorCtr="0">
            <a:noAutofit/>
          </a:bodyPr>
          <a:lstStyle/>
          <a:p>
            <a:pPr marL="0" lvl="0" indent="0" algn="l" rtl="0">
              <a:spcBef>
                <a:spcPts val="1000"/>
              </a:spcBef>
              <a:spcAft>
                <a:spcPts val="0"/>
              </a:spcAft>
              <a:buSzPts val="2400"/>
              <a:buNone/>
            </a:pPr>
            <a:r>
              <a:rPr lang="en-US" sz="4000" b="1" dirty="0"/>
              <a:t>References:</a:t>
            </a:r>
          </a:p>
          <a:p>
            <a:pPr marL="0" lvl="0" indent="0" algn="l" rtl="0">
              <a:spcBef>
                <a:spcPts val="1000"/>
              </a:spcBef>
              <a:spcAft>
                <a:spcPts val="0"/>
              </a:spcAft>
              <a:buSzPts val="2400"/>
              <a:buNone/>
            </a:pPr>
            <a:r>
              <a:rPr lang="en-US" sz="4000" dirty="0"/>
              <a:t>    </a:t>
            </a:r>
            <a:r>
              <a:rPr lang="en-US" sz="2400" dirty="0">
                <a:hlinkClick r:id="rId3"/>
              </a:rPr>
              <a:t>https://scholar.google.com/scholar?hl=en&amp;as_sdt=0,5&amp;q=diabetes+prediction+using+tongue#d=gs_qabs&amp;t=1734626834963&amp;u=%23p%3D8CAEyPXMQLgJ</a:t>
            </a:r>
            <a:endParaRPr lang="en-US" sz="2400" dirty="0"/>
          </a:p>
          <a:p>
            <a:pPr marL="0" lvl="0" indent="0" algn="l" rtl="0">
              <a:spcBef>
                <a:spcPts val="1000"/>
              </a:spcBef>
              <a:spcAft>
                <a:spcPts val="0"/>
              </a:spcAft>
              <a:buSzPts val="2400"/>
              <a:buNone/>
            </a:pPr>
            <a:r>
              <a:rPr lang="en-US" sz="2400" dirty="0"/>
              <a:t>Patel, R., et al. (2020). "Deep Learning for Non-Invasive Diagnosis." IEEE Transactions on Artificial Intelligence in Medicine.</a:t>
            </a:r>
          </a:p>
          <a:p>
            <a:pPr marL="0" lvl="0" indent="0" algn="l" rtl="0">
              <a:spcBef>
                <a:spcPts val="1000"/>
              </a:spcBef>
              <a:spcAft>
                <a:spcPts val="0"/>
              </a:spcAft>
              <a:buSzPts val="2400"/>
              <a:buNone/>
            </a:pPr>
            <a:r>
              <a:rPr lang="en-US" sz="2400" dirty="0"/>
              <a:t>Gupta, S., et al. (2021). "Diabetes Detection Using CNN and Image Processing." IEEE Access.</a:t>
            </a:r>
          </a:p>
          <a:p>
            <a:pPr marL="0" lvl="0" indent="0" algn="l" rtl="0">
              <a:spcBef>
                <a:spcPts val="1000"/>
              </a:spcBef>
              <a:spcAft>
                <a:spcPts val="0"/>
              </a:spcAft>
              <a:buSzPts val="2400"/>
              <a:buNone/>
            </a:pPr>
            <a:r>
              <a:rPr lang="en-US" sz="2400" dirty="0"/>
              <a:t>Journal of biomedical informatics 115, 103693, 2021</a:t>
            </a:r>
          </a:p>
        </p:txBody>
      </p:sp>
    </p:spTree>
    <p:extLst>
      <p:ext uri="{BB962C8B-B14F-4D97-AF65-F5344CB8AC3E}">
        <p14:creationId xmlns:p14="http://schemas.microsoft.com/office/powerpoint/2010/main" val="508418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5F739-8185-60AA-4D18-83BE253B71DD}"/>
              </a:ext>
            </a:extLst>
          </p:cNvPr>
          <p:cNvSpPr>
            <a:spLocks noGrp="1"/>
          </p:cNvSpPr>
          <p:nvPr>
            <p:ph type="title"/>
          </p:nvPr>
        </p:nvSpPr>
        <p:spPr>
          <a:xfrm>
            <a:off x="609600" y="274638"/>
            <a:ext cx="10972800" cy="6178698"/>
          </a:xfrm>
        </p:spPr>
        <p:txBody>
          <a:bodyPr/>
          <a:lstStyle/>
          <a:p>
            <a:r>
              <a:rPr lang="en-US" dirty="0"/>
              <a:t>THANK YOU!</a:t>
            </a:r>
            <a:endParaRPr lang="en-IN" dirty="0"/>
          </a:p>
        </p:txBody>
      </p:sp>
    </p:spTree>
    <p:extLst>
      <p:ext uri="{BB962C8B-B14F-4D97-AF65-F5344CB8AC3E}">
        <p14:creationId xmlns:p14="http://schemas.microsoft.com/office/powerpoint/2010/main" val="789055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309</TotalTime>
  <Words>1192</Words>
  <Application>Microsoft Office PowerPoint</Application>
  <PresentationFormat>Widescreen</PresentationFormat>
  <Paragraphs>73</Paragraphs>
  <Slides>11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      DIABETES PREDICTION FROM TONGUE IMAGE</vt:lpstr>
      <vt:lpstr>PowerPoint Presentation</vt:lpstr>
      <vt:lpstr>PowerPoint Presentation</vt:lpstr>
      <vt:lpstr>PowerPoint Presentation</vt:lpstr>
      <vt:lpstr>PowerPoint Presentation</vt:lpstr>
      <vt:lpstr>HOW IT WORKS</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Avinashilingam Institute for Home Science and Higher Education for Women</dc:title>
  <dc:creator>student</dc:creator>
  <cp:lastModifiedBy>kowshikowshi855@gmail.com</cp:lastModifiedBy>
  <cp:revision>23</cp:revision>
  <dcterms:modified xsi:type="dcterms:W3CDTF">2025-03-25T06:47:00Z</dcterms:modified>
</cp:coreProperties>
</file>